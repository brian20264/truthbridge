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0:00–0:12 — Team Member 1
“Hello. We are the TruthBridge team, building for the Omega AI Agents track: Two Agents, One Truth.”
“TruthBridge is designed for a simple problem: two AI agents can give different answers to the same question. Instead of hiding that disagreement, we make it explicit, compare the evidence, resolve it symbolically, and leave a trail a human can inspect.”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0:12–0:30 — Team Member 1
“The problem is not that AI agents can disagree. The problem is what we do with that disagreement.”
“In our demo, Agent A takes a default ‘no’ position and Agent B challenges it with a conditional ‘yes’. TruthBridge makes the relationship, evidence, resolution, and uncertainty visible instead of collapsing everything into one opaque answer.”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0:30–0:50 — Team Member 2
“Here is the architecture. A question goes to two separate agents. We compare their claims, attach evidence to each side, evaluate the relationship, then send the structured relationship into our Omega/MeTTa reasoning layer. Finally, a human reviews the result, and the whole decision is preserved in an audit trail.”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0:50–1:05 — Team Member 2
Use the key sentence exactly:
“The agents generate the disagreement, Python structures and evaluates the evidence, MeTTa represents the symbolic reasoning relationships, Omega executes that reasoning, and the human reviews the resulting resolution.”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1:05–1:30 — Brian (terminal operator)
Type the question exactly as shown. Do not type the agents' claims — let ASI:One generate them.
Say: “Agent A takes the default position. Agent B challenges it with a conditional alternative. Now TruthBridge compares the claims instead of hiding the disagreement.”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1:30–2:05 — Brian
Point to each result as it appears in the terminal:
“TruthBridge classifies this as CONTRADICT. Both sides score 0.82, so Python reports INSUFFICIENT_EVIDENCE. Our Omega/MeTTa rule does not choose a winner when contradictory evidence is equally strong; it returns UNRESOLVED. The human reviewer then accepts or challenges that result.”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2:05–2:25 — Brian
“The important part is the audit trail. A reviewer can inspect both claims, both evidence records, the relationship, the Python outcome, the Omega/MeTTa outcome, and the human decision.”
“Today’s terminal demo uses synthetic demonstration evidence to prove the pipeline. Our next iteration is source-backed evidence ingestion.”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2:25–2:45 — Team Member 2
“TruthBridge directly demonstrates the core behavior of the Two Agents, One Truth track: two positions, explicit disagreement, evidence, Omega/MeTTa symbolic resolution, and human review.”
“Our next step is source-backed evidence ingestion, then a lightweight interface and stronger provenance handling.”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2:45–3:00 — Team Member 3
“TruthBridge turns disagreement between AI agents into something inspectable, evidence-aware, and human-challengeable.”
“Our next step is source-backed evidence, stronger provenance, and a lightweight review interface. Thank you.”
Q&amp;A backup: if asked whether you prove truth, answer: “No. We produce an auditable evidence-aware resolution and expose uncertainty; the human remains in the loop.”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936"/>
          </a:solidFill>
          <a:ln w="12700">
            <a:solidFill>
              <a:srgbClr val="1119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1111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TRUTHBRIDGE  •  TWO AGENTS, ONE TRUTH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589520" y="661111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SingularityNET × Omega × BASIX.Market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6539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77240"/>
            <a:ext cx="5029200" cy="5029200"/>
          </a:xfrm>
          <a:prstGeom prst="arc">
            <a:avLst/>
          </a:prstGeom>
          <a:noFill/>
          <a:ln w="2540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-274320"/>
            <a:ext cx="4023360" cy="4023360"/>
          </a:xfrm>
          <a:prstGeom prst="arc">
            <a:avLst/>
          </a:prstGeom>
          <a:noFill/>
          <a:ln w="25400">
            <a:solidFill>
              <a:srgbClr val="4FD1C5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858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7360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</a:rPr>
              <a:t>OMEGA AI AGENTS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</a:rPr>
              <a:t>TruthBridge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13232" y="21488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D1C5"/>
                </a:solidFill>
              </a:rPr>
              <a:t>Two Agents, One Truth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28346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An evidence-aware, auditable resolution pipeline for conflicting AI claims.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989320" cy="1078992"/>
          </a:xfrm>
          <a:prstGeom prst="roundRect">
            <a:avLst>
              <a:gd name="adj" fmla="val 10169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97680"/>
            <a:ext cx="5532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QUESTION  →  AGENT A  →  AGENT B  →  EVIDENCE  →  METTA / OMEGA  →  HUMAN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55778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Hackathon track: Omega AI Agents — Two Agents, One Truth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4FD1C5"/>
                </a:solidFill>
              </a:rPr>
              <a:t>01  WHY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The problem: disagreement is easy; accountable resolution is harder.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074920" cy="4480560"/>
          </a:xfrm>
          <a:prstGeom prst="roundRect">
            <a:avLst>
              <a:gd name="adj" fmla="val 2449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6520" y="1417320"/>
            <a:ext cx="5074920" cy="4480560"/>
          </a:xfrm>
          <a:prstGeom prst="roundRect">
            <a:avLst>
              <a:gd name="adj" fmla="val 2449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3736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87652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</a:rPr>
              <a:t>TODAY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Agent 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“No — the normal deadline closes standard registration.”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Agent 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“Yes — late registration may exist through a separate pathway.”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720840" y="173736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93992" y="178765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</a:rPr>
              <a:t>THE GAP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20840" y="22128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A single final answer can hide: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784848" y="2788920"/>
            <a:ext cx="201168" cy="201168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0608" y="273405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Which claims actually disagree?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784848" y="3447288"/>
            <a:ext cx="201168" cy="201168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339242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Which evidence supports each claim?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784848" y="4105656"/>
            <a:ext cx="201168" cy="201168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0608" y="40507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What should happen when evidence is tied?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84848" y="4764024"/>
            <a:ext cx="201168" cy="201168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47091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Can a human inspect or challenge the result?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20840" y="54406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FD1C5"/>
                </a:solidFill>
              </a:rPr>
              <a:t>TruthBridge turns the disagreement itself into structured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4FD1C5"/>
                </a:solidFill>
              </a:rPr>
              <a:t>02 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TruthBridge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480" y="1993392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111936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2084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Question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17320" y="2450592"/>
            <a:ext cx="246888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682496" y="1993392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111936"/>
          </a:solidFill>
          <a:ln w="19050">
            <a:solidFill>
              <a:srgbClr val="4F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55648" y="2084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73936" y="2331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Agent 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88336" y="2450592"/>
            <a:ext cx="246888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53512" y="1993392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111936"/>
          </a:solidFill>
          <a:ln w="19050">
            <a:solidFill>
              <a:srgbClr val="4FD1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26664" y="2084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44952" y="2331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Agent 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59352" y="2450592"/>
            <a:ext cx="246888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24528" y="1993392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111936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084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15968" y="2331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Claim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relation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30368" y="2450592"/>
            <a:ext cx="246888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95544" y="1993392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111936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68696" y="2084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86984" y="2331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Evidence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01384" y="2450592"/>
            <a:ext cx="246888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766560" y="1993392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111936"/>
          </a:solidFill>
          <a:ln w="19050">
            <a:solidFill>
              <a:srgbClr val="4FD1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2084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2331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Python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resolution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0" y="2450592"/>
            <a:ext cx="246888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37576" y="1993392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111936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0728" y="2084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29016" y="2331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Omega 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MeTTa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043416" y="2450592"/>
            <a:ext cx="246888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308592" y="1993392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111936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81744" y="2084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</a:rPr>
              <a:t>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400032" y="2331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Human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review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314432" y="2450592"/>
            <a:ext cx="246888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579608" y="1993392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111936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52760" y="2084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671048" y="2331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Audit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trail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" y="3794760"/>
            <a:ext cx="10789920" cy="1600200"/>
          </a:xfrm>
          <a:prstGeom prst="roundRect">
            <a:avLst>
              <a:gd name="adj" fmla="val 6857"/>
            </a:avLst>
          </a:prstGeom>
          <a:solidFill>
            <a:srgbClr val="16203F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40233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What the system preserves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3840480" y="3959352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</a:rPr>
              <a:t>• Two independent claims</a:t>
            </a:r>
            <a:endParaRPr lang="en-US" sz="1320" dirty="0"/>
          </a:p>
        </p:txBody>
      </p:sp>
      <p:sp>
        <p:nvSpPr>
          <p:cNvPr id="42" name="Text 40"/>
          <p:cNvSpPr/>
          <p:nvPr/>
        </p:nvSpPr>
        <p:spPr>
          <a:xfrm>
            <a:off x="3840480" y="427024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</a:rPr>
              <a:t>• Evidence attached to each claim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3840480" y="4581144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</a:rPr>
              <a:t>• Explicit relation: AGREE / QUALIFY / CONTRADICT / UNRELATED</a:t>
            </a:r>
            <a:endParaRPr lang="en-US" sz="1320" dirty="0"/>
          </a:p>
        </p:txBody>
      </p:sp>
      <p:sp>
        <p:nvSpPr>
          <p:cNvPr id="44" name="Text 42"/>
          <p:cNvSpPr/>
          <p:nvPr/>
        </p:nvSpPr>
        <p:spPr>
          <a:xfrm>
            <a:off x="3840480" y="4892040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</a:rPr>
              <a:t>• A human can accept or challenge the outcome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4FD1C5"/>
                </a:solidFill>
              </a:rPr>
              <a:t>03  UNDER THE HOOD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What each layer actually does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46120" cy="4434840"/>
          </a:xfrm>
          <a:prstGeom prst="roundRect">
            <a:avLst>
              <a:gd name="adj" fmla="val 3380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</a:rPr>
              <a:t>ASI:One Agents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96112" y="2450592"/>
            <a:ext cx="2651760" cy="0"/>
          </a:xfrm>
          <a:prstGeom prst="line">
            <a:avLst/>
          </a:prstGeom>
          <a:noFill/>
          <a:ln w="12700">
            <a:solidFill>
              <a:srgbClr val="2733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724912"/>
            <a:ext cx="270662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Agent 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Default-position analyst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Agent B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Skeptical counter-position analyst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60520" y="1600200"/>
            <a:ext cx="3246120" cy="4434840"/>
          </a:xfrm>
          <a:prstGeom prst="roundRect">
            <a:avLst>
              <a:gd name="adj" fmla="val 3380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FD1C5"/>
                </a:solidFill>
              </a:rPr>
              <a:t>Python layer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416552" y="2450592"/>
            <a:ext cx="2651760" cy="0"/>
          </a:xfrm>
          <a:prstGeom prst="line">
            <a:avLst/>
          </a:prstGeom>
          <a:noFill/>
          <a:ln w="12700">
            <a:solidFill>
              <a:srgbClr val="2733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2724912"/>
            <a:ext cx="270662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Structures claims + evidence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Classifies relationships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Computes deterministic evidence outcomes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0960" y="1600200"/>
            <a:ext cx="3246120" cy="4434840"/>
          </a:xfrm>
          <a:prstGeom prst="roundRect">
            <a:avLst>
              <a:gd name="adj" fmla="val 3380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</a:rPr>
              <a:t>MeTTa + Omega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936992" y="2450592"/>
            <a:ext cx="2651760" cy="0"/>
          </a:xfrm>
          <a:prstGeom prst="line">
            <a:avLst/>
          </a:prstGeom>
          <a:noFill/>
          <a:ln w="12700">
            <a:solidFill>
              <a:srgbClr val="2733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36992" y="2724912"/>
            <a:ext cx="270662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MeTTa represents symbolic rules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Omega executes the resolution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Does not force a winner when evidence is tied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58704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Key sentence: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5788152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8FAFC"/>
                </a:solidFill>
              </a:rPr>
              <a:t>“The agents generate the disagreement, Python structures and evaluates the evidence, MeTTa represents the symbolic reasoning relationships, Omega executes that reasoning, and the human reviews the resulting resolution.”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4FD1C5"/>
                </a:solidFill>
              </a:rPr>
              <a:t>04 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Live demo: one question, two positions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27080" cy="1051560"/>
          </a:xfrm>
          <a:prstGeom prst="roundRect">
            <a:avLst>
              <a:gd name="adj" fmla="val 10435"/>
            </a:avLst>
          </a:prstGeom>
          <a:solidFill>
            <a:srgbClr val="16203F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733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FD1C5"/>
                </a:solidFill>
              </a:rPr>
              <a:t>QUESTION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57400" y="1572768"/>
            <a:ext cx="8732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Can a student register for a course after a normal registration deadline?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274320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99923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04952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</a:rPr>
              <a:t>AGENT 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0" y="299923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304952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</a:rPr>
              <a:t>AGENT 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34564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Default “No”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3877056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Standard registration closes after the normal deadline; late enrollment needs a separate permitted path.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83680" y="3456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Conditional “Yes”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83680" y="3877056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Late registration may exist through a bounded, policy-defined pathway with approvals and conditions.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246120" y="5166360"/>
            <a:ext cx="5806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D1C5"/>
                </a:solidFill>
              </a:rPr>
              <a:t>Disagreement is now explicit and inspectable.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4FD1C5"/>
                </a:solidFill>
              </a:rPr>
              <a:t>05  RESOLUTION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When evidence is tied, TruthBridge refuses to fake certainty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10312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</a:rPr>
              <a:t>Relationship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6384" y="256032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B7185"/>
                </a:solidFill>
              </a:rPr>
              <a:t>CONTRADICT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514600" y="1874520"/>
            <a:ext cx="1417320" cy="1828800"/>
          </a:xfrm>
          <a:prstGeom prst="roundRect">
            <a:avLst>
              <a:gd name="adj" fmla="val 7742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60904" y="210312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</a:rPr>
              <a:t>Evidence 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60904" y="2560320"/>
            <a:ext cx="1124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0A5FA"/>
                </a:solidFill>
              </a:rPr>
              <a:t>0.82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1417320" cy="1828800"/>
          </a:xfrm>
          <a:prstGeom prst="roundRect">
            <a:avLst>
              <a:gd name="adj" fmla="val 7742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5424" y="210312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</a:rPr>
              <a:t>Evidence 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35424" y="2560320"/>
            <a:ext cx="1124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FD1C5"/>
                </a:solidFill>
              </a:rPr>
              <a:t>0.82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63640" y="187452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210312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</a:rPr>
              <a:t>Python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9944" y="256032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BBF24"/>
                </a:solidFill>
              </a:rPr>
              <a:t>INSUFFICIENT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BBF24"/>
                </a:solidFill>
              </a:rPr>
              <a:t>EVIDENCE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138160" y="1874520"/>
            <a:ext cx="1554480" cy="1828800"/>
          </a:xfrm>
          <a:prstGeom prst="roundRect">
            <a:avLst>
              <a:gd name="adj" fmla="val 7059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21031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</a:rPr>
              <a:t>Omega / MeTTa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84464" y="256032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B7185"/>
                </a:solidFill>
              </a:rPr>
              <a:t>UNRESOLVED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0012680" y="1874520"/>
            <a:ext cx="1554480" cy="1828800"/>
          </a:xfrm>
          <a:prstGeom prst="roundRect">
            <a:avLst>
              <a:gd name="adj" fmla="val 7059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58984" y="21031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</a:rPr>
              <a:t>Human review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158984" y="256032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4D399"/>
                </a:solidFill>
              </a:rPr>
              <a:t>ACCEPTED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1051560" y="4251960"/>
            <a:ext cx="10058400" cy="1051560"/>
          </a:xfrm>
          <a:prstGeom prst="roundRect">
            <a:avLst>
              <a:gd name="adj" fmla="val 10435"/>
            </a:avLst>
          </a:prstGeom>
          <a:solidFill>
            <a:srgbClr val="16203F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45537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Why?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57400" y="4407408"/>
            <a:ext cx="8641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Both contradictory claims have strong supporting evidence, so the system does not arbitrarily select a winner. The human sees the unresolved state and can challenge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4FD1C5"/>
                </a:solidFill>
              </a:rPr>
              <a:t>06  AUDITABILITY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The output is auditable, not just a final answer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537960" cy="4526280"/>
          </a:xfrm>
          <a:prstGeom prst="roundRect">
            <a:avLst>
              <a:gd name="adj" fmla="val 2424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70" kern="0" dirty="0">
                <a:solidFill>
                  <a:srgbClr val="4FD1C5"/>
                </a:solidFill>
              </a:rPr>
              <a:t>FINAL AUDIT TRAIL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3969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CLAIM 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23160" y="2112264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8FAFC"/>
                </a:solidFill>
              </a:rPr>
              <a:t>Default “No”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914400" y="25786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EVIDENCE 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2551176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8FAFC"/>
                </a:solidFill>
              </a:rPr>
              <a:t>source + type + score + support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CLAIM 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2990088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8FAFC"/>
                </a:solidFill>
              </a:rPr>
              <a:t>Conditional “Yes”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9144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EVIDENCE 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23160" y="3429000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8FAFC"/>
                </a:solidFill>
              </a:rPr>
              <a:t>source + type + score + support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914400" y="38953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COMPARISON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3867912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8FAFC"/>
                </a:solidFill>
              </a:rPr>
              <a:t>CONTRADICT • score difference 0.0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914400" y="433425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PYTHON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3160" y="4306824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8FAFC"/>
                </a:solidFill>
              </a:rPr>
              <a:t>INSUFFICIENT_EVIDENCE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14400" y="47731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OMEGA / MeTTa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23160" y="4745736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8FAFC"/>
                </a:solidFill>
              </a:rPr>
              <a:t>UNRESOLVED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914400" y="52120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HUMAN REVIEW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23160" y="5184648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8FAFC"/>
                </a:solidFill>
              </a:rPr>
              <a:t>ACCEPTED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7543800" y="1417320"/>
            <a:ext cx="4023360" cy="4526280"/>
          </a:xfrm>
          <a:prstGeom prst="roundRect">
            <a:avLst>
              <a:gd name="adj" fmla="val 2727"/>
            </a:avLst>
          </a:prstGeom>
          <a:solidFill>
            <a:srgbClr val="16203F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82128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</a:rPr>
              <a:t>Human control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7882128" y="25603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The system exposes its uncertainty instead of pretending the evidence proves more than it does.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882128" y="397764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4027932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</a:rPr>
              <a:t>INSPECT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89720" y="39776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62872" y="4027932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</a:rPr>
              <a:t>CHALLENGE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82128" y="440740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4457700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</a:rPr>
              <a:t>ACCEPT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82128" y="498348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</a:rPr>
              <a:t>Current demo note: the evidence shown is synthetic demonstration evidence; the next iteration is source-backed evidence ingestion.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4FD1C5"/>
                </a:solidFill>
              </a:rPr>
              <a:t>07 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Why this fits the track — and what comes next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074920" cy="4480560"/>
          </a:xfrm>
          <a:prstGeom prst="roundRect">
            <a:avLst>
              <a:gd name="adj" fmla="val 2449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6520" y="1417320"/>
            <a:ext cx="5074920" cy="4480560"/>
          </a:xfrm>
          <a:prstGeom prst="roundRect">
            <a:avLst>
              <a:gd name="adj" fmla="val 2449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1907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6936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</a:rPr>
              <a:t>TRACK FIT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Two agents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04288" y="227685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separate positions on one question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8529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Visible disagreement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04288" y="284378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relationship is explicit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41985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Evidence-aware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04288" y="34107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each claim carries evidence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398678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Omega / MeTTa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04288" y="39776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symbolic resolution rules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5537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Human review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304288" y="454456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accept or challenge the outcome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20840" y="171907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769364"/>
            <a:ext cx="630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</a:rPr>
              <a:t>NEXT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12280" y="2331720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2258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CBD5E1"/>
                </a:solidFill>
              </a:rPr>
              <a:t>Replace synthetic evidence with source-backed evidence inputs</a:t>
            </a:r>
            <a:endParaRPr lang="en-US" sz="1410" dirty="0"/>
          </a:p>
        </p:txBody>
      </p:sp>
      <p:sp>
        <p:nvSpPr>
          <p:cNvPr id="22" name="Shape 20"/>
          <p:cNvSpPr/>
          <p:nvPr/>
        </p:nvSpPr>
        <p:spPr>
          <a:xfrm>
            <a:off x="6812280" y="2990088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29169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CBD5E1"/>
                </a:solidFill>
              </a:rPr>
              <a:t>Add a lightweight web UI for live review</a:t>
            </a:r>
            <a:endParaRPr lang="en-US" sz="1410" dirty="0"/>
          </a:p>
        </p:txBody>
      </p:sp>
      <p:sp>
        <p:nvSpPr>
          <p:cNvPr id="24" name="Shape 22"/>
          <p:cNvSpPr/>
          <p:nvPr/>
        </p:nvSpPr>
        <p:spPr>
          <a:xfrm>
            <a:off x="6812280" y="3648456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0608" y="35753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CBD5E1"/>
                </a:solidFill>
              </a:rPr>
              <a:t>Expand evidence provenance and freshness handling</a:t>
            </a:r>
            <a:endParaRPr lang="en-US" sz="1410" dirty="0"/>
          </a:p>
        </p:txBody>
      </p:sp>
      <p:sp>
        <p:nvSpPr>
          <p:cNvPr id="26" name="Shape 24"/>
          <p:cNvSpPr/>
          <p:nvPr/>
        </p:nvSpPr>
        <p:spPr>
          <a:xfrm>
            <a:off x="6812280" y="4306824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608" y="4233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CBD5E1"/>
                </a:solidFill>
              </a:rPr>
              <a:t>Keep the audit trail exportable and inspectable</a:t>
            </a:r>
            <a:endParaRPr lang="en-US" sz="14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4FD1C5"/>
                </a:solidFill>
              </a:rPr>
              <a:t>08 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Three people. One pipeline. One clear story.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337560" cy="3017520"/>
          </a:xfrm>
          <a:prstGeom prst="roundRect">
            <a:avLst>
              <a:gd name="adj" fmla="val 3636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Team Member 1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143000" y="2487168"/>
            <a:ext cx="2331720" cy="0"/>
          </a:xfrm>
          <a:prstGeom prst="line">
            <a:avLst/>
          </a:prstGeom>
          <a:noFill/>
          <a:ln w="12700">
            <a:solidFill>
              <a:srgbClr val="2733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78892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Problem + opening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Sets the scene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Hands off to demo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508760"/>
            <a:ext cx="3337560" cy="3017520"/>
          </a:xfrm>
          <a:prstGeom prst="roundRect">
            <a:avLst>
              <a:gd name="adj" fmla="val 3636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828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FD1C5"/>
                </a:solidFill>
              </a:rPr>
              <a:t>Brian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983480" y="2487168"/>
            <a:ext cx="2331720" cy="0"/>
          </a:xfrm>
          <a:prstGeom prst="line">
            <a:avLst/>
          </a:prstGeom>
          <a:noFill/>
          <a:ln w="12700">
            <a:solidFill>
              <a:srgbClr val="2733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78892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Technical demo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Runs terminal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Explains Python + Omega/MeTTa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21040" y="1508760"/>
            <a:ext cx="3337560" cy="3017520"/>
          </a:xfrm>
          <a:prstGeom prst="roundRect">
            <a:avLst>
              <a:gd name="adj" fmla="val 3636"/>
            </a:avLst>
          </a:prstGeom>
          <a:solidFill>
            <a:srgbClr val="111936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1828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Team Member 3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823960" y="2487168"/>
            <a:ext cx="2331720" cy="0"/>
          </a:xfrm>
          <a:prstGeom prst="line">
            <a:avLst/>
          </a:prstGeom>
          <a:noFill/>
          <a:ln w="12700">
            <a:solidFill>
              <a:srgbClr val="2733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278892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Evidence + audit trail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Human review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Next step + closing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25880" y="4892040"/>
            <a:ext cx="9555480" cy="914400"/>
          </a:xfrm>
          <a:prstGeom prst="roundRect">
            <a:avLst>
              <a:gd name="adj" fmla="val 12000"/>
            </a:avLst>
          </a:prstGeom>
          <a:solidFill>
            <a:srgbClr val="16203F"/>
          </a:solidFill>
          <a:ln w="15240">
            <a:solidFill>
              <a:srgbClr val="2733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0200" y="51389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Closing 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506577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“TruthBridge turns disagreement between AI agents into something inspectable, evidence-aware, and human-challengeable.”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63040" y="5989320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AI disclosure: AI tools were used during development for coding assistance, debugging, and drafting; the team reviewed and integrated the resulting code.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TruthBridge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TruthBridge — Two Agents, One Truth</dc:title>
  <dc:subject>SingularityNET x Omega x BASIX.Market Hackathon</dc:subject>
  <dc:creator>TruthBridge Team</dc:creator>
  <cp:lastModifiedBy>TruthBridge Team</cp:lastModifiedBy>
  <cp:revision>1</cp:revision>
  <dcterms:created xsi:type="dcterms:W3CDTF">2026-10-01T13:48:40Z</dcterms:created>
  <dcterms:modified xsi:type="dcterms:W3CDTF">2026-10-01T13:48:40Z</dcterms:modified>
</cp:coreProperties>
</file>